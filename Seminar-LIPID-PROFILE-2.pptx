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icker, Sunita (IND)" userId="2bdd405c-d929-4d0c-bbc5-f13fc1c57872" providerId="ADAL" clId="{82E2B4B3-7F7F-4358-B595-ADDE954E3965}"/>
    <pc:docChg chg="modSld">
      <pc:chgData name="Panicker, Sunita (IND)" userId="2bdd405c-d929-4d0c-bbc5-f13fc1c57872" providerId="ADAL" clId="{82E2B4B3-7F7F-4358-B595-ADDE954E3965}" dt="2026-03-09T15:13:22.342" v="8" actId="20577"/>
      <pc:docMkLst>
        <pc:docMk/>
      </pc:docMkLst>
      <pc:sldChg chg="modSp mod">
        <pc:chgData name="Panicker, Sunita (IND)" userId="2bdd405c-d929-4d0c-bbc5-f13fc1c57872" providerId="ADAL" clId="{82E2B4B3-7F7F-4358-B595-ADDE954E3965}" dt="2026-03-09T15:13:22.342" v="8" actId="20577"/>
        <pc:sldMkLst>
          <pc:docMk/>
          <pc:sldMk cId="3808846234" sldId="258"/>
        </pc:sldMkLst>
        <pc:spChg chg="mod">
          <ac:chgData name="Panicker, Sunita (IND)" userId="2bdd405c-d929-4d0c-bbc5-f13fc1c57872" providerId="ADAL" clId="{82E2B4B3-7F7F-4358-B595-ADDE954E3965}" dt="2026-03-09T15:13:22.342" v="8" actId="20577"/>
          <ac:spMkLst>
            <pc:docMk/>
            <pc:sldMk cId="3808846234" sldId="258"/>
            <ac:spMk id="7" creationId="{A57727F1-AA9C-E63D-7D07-925387EC6E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75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68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78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15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3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95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90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9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183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27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9255C-A882-410D-9CAC-3918344365C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5D477A0-5B3C-430B-9552-453BB6D43A1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27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3B902-3B08-0CA1-0CC2-325CFBDE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Lipid Profile Screening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70C0E3-2047-74D5-638E-562BCBD20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-558912"/>
            <a:ext cx="9720943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Clinical Guidelines for Lipid Profile Screening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Risk and Managing Cardiovascular Health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FC7B-79DC-C06B-8658-D2E59F97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A4C10A-B3B6-C8E0-788A-DA295EFA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Clinical Foundations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7727F1-AA9C-E63D-7D07-925387EC6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99970"/>
            <a:ext cx="1185454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Header: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Establishing the Standard of Care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 Guidelines: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National Cholesterol Education Program (NCEP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Adult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Panel (ATP III).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 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Derived from landmark longitudinal studies,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primarily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Framingham Hert Study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Takeaway: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Screening protocols are rooted in decades of cardiovascular research.</a:t>
            </a:r>
          </a:p>
        </p:txBody>
      </p:sp>
    </p:spTree>
    <p:extLst>
      <p:ext uri="{BB962C8B-B14F-4D97-AF65-F5344CB8AC3E}">
        <p14:creationId xmlns:p14="http://schemas.microsoft.com/office/powerpoint/2010/main" val="380884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CBD29-129E-BEE1-AE6F-7438BD75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36504B-43BB-3381-FB3C-708A0DD2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Should Be Screened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FB9D560-CDA2-7FD5-ABBE-FCFC53257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8F74C-22CE-0CAD-AC3B-54D789C4C5B0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</a:t>
            </a:r>
            <a:r>
              <a:rPr lang="en-IN" sz="2400" dirty="0"/>
              <a:t> Primary Screening Population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298CC1D-B42F-D9CA-8A8B-40D8A30C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56" y="2869630"/>
            <a:ext cx="11854544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Age $\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35$ years.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Women: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Age $\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45$ years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Early Intervention: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Screening should begin earlier if the patient presents with an increased risk of Coronary Heart Disease (CHD).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18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D02D9-2007-04A1-F996-39ECD896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61BA59-331B-5C20-ED56-418DA00A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Frequency of Testing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11A476D-04CC-50B9-3D00-0D6F1DD81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E299A-8197-FDAA-1FC7-1B5963FC8251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 </a:t>
            </a:r>
            <a:r>
              <a:rPr lang="en-IN" sz="2400" dirty="0"/>
              <a:t>Maintenance and Monitoring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C038BB4-6558-8A82-CE8D-ED30D2C68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56" y="2500300"/>
            <a:ext cx="11854544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400" b="1" dirty="0"/>
              <a:t>Healthy Adults:</a:t>
            </a:r>
            <a:r>
              <a:rPr lang="en-US" sz="2400" dirty="0"/>
              <a:t> For those without existing cardiovascular risk factors, a full lipid profile is recommended </a:t>
            </a:r>
            <a:r>
              <a:rPr lang="en-US" sz="2400" b="1" dirty="0"/>
              <a:t>every 5 year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Follow-up Intervals:</a:t>
            </a:r>
            <a:endParaRPr lang="en-US" sz="2400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400" dirty="0"/>
              <a:t>Performed at regular clinical intervals for at-risk patients.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400" dirty="0"/>
              <a:t>Essential for monitoring the efficacy of lipid-lowering therapies (e.g., </a:t>
            </a:r>
            <a:r>
              <a:rPr lang="en-US" sz="2400" b="1" dirty="0"/>
              <a:t>Statins</a:t>
            </a:r>
            <a:r>
              <a:rPr lang="en-US" sz="2400" dirty="0"/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62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F723-0BA4-682A-C074-DC1106C3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AC5A87-F059-9412-C796-C427DE01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Cardiovascular Risk Factors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35088AD-2E73-187B-02F1-A1768EE83E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5691F-4CD5-C871-8C2F-A63BA8B49697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IN" sz="2400" dirty="0"/>
              <a:t>Identifying the Danger Zones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A91C682-3106-B983-DD06-3E28B8633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56" y="3008132"/>
            <a:ext cx="10885715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Content:</a:t>
            </a: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Biomarkers:</a:t>
            </a:r>
            <a:r>
              <a:rPr lang="en-IN" sz="2400" dirty="0"/>
              <a:t> Elevated Total or LDL cholesterol; decreased HDL cholesterol.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Demographics:</a:t>
            </a:r>
            <a:r>
              <a:rPr lang="en-IN" sz="2400" dirty="0"/>
              <a:t> Advanced age and Male gender.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Lifestyle:</a:t>
            </a:r>
            <a:r>
              <a:rPr lang="en-IN" sz="2400" dirty="0"/>
              <a:t> Smoking, obesity, and a sedentary lifestyle.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Clinical Conditions:</a:t>
            </a:r>
            <a:r>
              <a:rPr lang="en-IN" sz="2400" dirty="0"/>
              <a:t> Hypertension and Diabetes Mellitus.</a:t>
            </a:r>
          </a:p>
        </p:txBody>
      </p:sp>
    </p:spTree>
    <p:extLst>
      <p:ext uri="{BB962C8B-B14F-4D97-AF65-F5344CB8AC3E}">
        <p14:creationId xmlns:p14="http://schemas.microsoft.com/office/powerpoint/2010/main" val="1886498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E959-2CE1-74EF-29D7-2320745C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F0873D-431F-53BF-965D-9C364D9B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Family History &amp; Genetics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C220D88-E697-5484-3409-6315EA097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92715-0DFD-9876-2300-077CD477C58E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IN" sz="2400" dirty="0"/>
              <a:t>The Role of Heredity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D2FD2-5E6C-DADF-FDF3-EB31F8B1B892}"/>
              </a:ext>
            </a:extLst>
          </p:cNvPr>
          <p:cNvSpPr txBox="1"/>
          <p:nvPr/>
        </p:nvSpPr>
        <p:spPr>
          <a:xfrm>
            <a:off x="337457" y="2695779"/>
            <a:ext cx="11593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Clinical Note: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Genetic predisposition significantly lowers the threshold for early and frequent screening.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Premature CHD Risk: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Male relative affected at age $&lt; 55$.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Female relative affected at age $&lt; 65$.</a:t>
            </a:r>
          </a:p>
        </p:txBody>
      </p:sp>
    </p:spTree>
    <p:extLst>
      <p:ext uri="{BB962C8B-B14F-4D97-AF65-F5344CB8AC3E}">
        <p14:creationId xmlns:p14="http://schemas.microsoft.com/office/powerpoint/2010/main" val="294803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90FD-CA54-B822-4758-0A2E619A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6C97F7-8C51-3206-F8A0-8C0ADC53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Lipid Analysis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B93732F-6AE9-804D-0257-C03CE1533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04FC2-81D9-BDE0-C241-380AEAA84BBE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IN" sz="2400" dirty="0"/>
              <a:t>Beyond Standard Profiles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58464E-EAD0-A6AE-D066-1F3D0EBFF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6" y="2576488"/>
            <a:ext cx="122137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Total cholesterol, LDL, or lipid ratios remain persistently high or ambiguous.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Methodology: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Nuclear Magnetic Resonance (NMR)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lipoprotein analysis.</a:t>
            </a: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more granular look at particle size and distribution for precise risk assessment.</a:t>
            </a:r>
          </a:p>
        </p:txBody>
      </p:sp>
    </p:spTree>
    <p:extLst>
      <p:ext uri="{BB962C8B-B14F-4D97-AF65-F5344CB8AC3E}">
        <p14:creationId xmlns:p14="http://schemas.microsoft.com/office/powerpoint/2010/main" val="66618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826F-FEB5-CBE6-C8F9-2CF5BE5D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5996AE-A794-4D87-3ED0-B4818E90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PROFILE </a:t>
            </a:r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CCC01C4-8528-FBB9-4A02-C20A210AD0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7FFC2-73A2-25DC-49D3-CDD203EF1649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IN" sz="2400" dirty="0"/>
              <a:t>Beyond Standard Profiles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D03258-6638-02F3-AE67-117728FEC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6" y="2576488"/>
            <a:ext cx="122137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Total cholesterol, LDL, or lipid ratios remain persistently high or ambiguous.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Methodology: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Nuclear Magnetic Resonance (NMR)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lipoprotein analysis.</a:t>
            </a: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more granular look at particle size and distribution for precise risk assessment.</a:t>
            </a:r>
          </a:p>
        </p:txBody>
      </p:sp>
    </p:spTree>
    <p:extLst>
      <p:ext uri="{BB962C8B-B14F-4D97-AF65-F5344CB8AC3E}">
        <p14:creationId xmlns:p14="http://schemas.microsoft.com/office/powerpoint/2010/main" val="173357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9A470-FF71-236B-1232-A922D6FE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89D1F-4362-7CCF-9C49-42EAD9DE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Parameters of a Lipid Profile</a:t>
            </a:r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C8E3935-A6E9-42C7-8F37-0EABA71D4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BB77C-F1DC-B513-B82A-DB2272604EAE}"/>
              </a:ext>
            </a:extLst>
          </p:cNvPr>
          <p:cNvSpPr txBox="1"/>
          <p:nvPr/>
        </p:nvSpPr>
        <p:spPr>
          <a:xfrm>
            <a:off x="990600" y="2076728"/>
            <a:ext cx="11201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A standard lipid profile evaluates five primary markers, alongside advanced sub-fractions</a:t>
            </a:r>
          </a:p>
          <a:p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Main Parameters	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Total Cholesterol:</a:t>
            </a:r>
            <a:r>
              <a:rPr lang="en-IN" sz="2400" dirty="0"/>
              <a:t> Overall cholesterol in all lipoprotein particles.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Triglycerides (TG):</a:t>
            </a:r>
            <a:r>
              <a:rPr lang="en-IN" sz="2400" dirty="0"/>
              <a:t> Main form of stored fat in the body.	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HDL (High-Density Lipoprotein):</a:t>
            </a:r>
            <a:r>
              <a:rPr lang="en-IN" sz="2400" dirty="0"/>
              <a:t> "Good" cholesterol; removes excess fat.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LDL (Low-Density Lipoprotein): "Bad" cholesterol; carries fat to cells.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VLDL (Very Low-Density Lipoprotein): Primarily carries triglycerides.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965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726E3-066B-3B45-2FFA-A715C47D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8BD0E6-9481-21DE-6FDE-53A5AE9C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Parameters of a Lipid Profile</a:t>
            </a:r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A013AB-8E3A-B115-BD0D-7BB9245A4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F5EF7-01B4-4E98-AE58-67BC477A2390}"/>
              </a:ext>
            </a:extLst>
          </p:cNvPr>
          <p:cNvSpPr txBox="1"/>
          <p:nvPr/>
        </p:nvSpPr>
        <p:spPr>
          <a:xfrm>
            <a:off x="228600" y="2100943"/>
            <a:ext cx="1120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A standard lipid profile evaluates five primary markers, alongside advanced sub-fractions</a:t>
            </a:r>
          </a:p>
          <a:p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B3AD48-0E55-8463-DFC7-2002689FF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6" y="2391822"/>
            <a:ext cx="1221377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Additional Markers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Non-HDL Cholesterol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Lipoprotein (a) [</a:t>
            </a:r>
            <a:r>
              <a:rPr lang="en-US" sz="2400" dirty="0" err="1"/>
              <a:t>Lp</a:t>
            </a:r>
            <a:r>
              <a:rPr lang="en-US" sz="2400" dirty="0"/>
              <a:t>(a)]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Apolipoprotein B (ApoB)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00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8E1A-1488-EDD4-0AB4-A6950A56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FD248-9EAB-4FEF-7384-A14710A0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Reference Values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1808C73-2985-7230-A130-4E1E7D5A4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61963"/>
            <a:ext cx="118545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A170B-A4DA-B946-8080-8357A7F92DCB}"/>
              </a:ext>
            </a:extLst>
          </p:cNvPr>
          <p:cNvSpPr txBox="1"/>
          <p:nvPr/>
        </p:nvSpPr>
        <p:spPr>
          <a:xfrm>
            <a:off x="228600" y="2100943"/>
            <a:ext cx="1120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C5638-490E-E321-4561-97505DDD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6" y="3499817"/>
            <a:ext cx="12213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17E8D0-7687-83D8-C483-6995569BF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97196"/>
              </p:ext>
            </p:extLst>
          </p:nvPr>
        </p:nvGraphicFramePr>
        <p:xfrm>
          <a:off x="653143" y="2277904"/>
          <a:ext cx="11201400" cy="3578608"/>
        </p:xfrm>
        <a:graphic>
          <a:graphicData uri="http://schemas.openxmlformats.org/drawingml/2006/table">
            <a:tbl>
              <a:tblPr/>
              <a:tblGrid>
                <a:gridCol w="5600700">
                  <a:extLst>
                    <a:ext uri="{9D8B030D-6E8A-4147-A177-3AD203B41FA5}">
                      <a16:colId xmlns:a16="http://schemas.microsoft.com/office/drawing/2014/main" val="425425694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259181150"/>
                    </a:ext>
                  </a:extLst>
                </a:gridCol>
              </a:tblGrid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</a:t>
                      </a:r>
                      <a:r>
                        <a:rPr lang="en-IN" sz="1800" dirty="0" err="1"/>
                        <a:t>arameter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 Range (mg/dL)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078789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Cholesterol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150–200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30248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Triglycerides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101–150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040768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HDL Cholesterol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30–60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206131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LDL Cholesterol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100–129 (Near Optimal)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073889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VLDL Cholesterol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10–30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523736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Non-HDL / ApoB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&lt; 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205834"/>
                  </a:ext>
                </a:extLst>
              </a:tr>
              <a:tr h="44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Lipoprotein (a)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&lt; 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09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23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0738-A0B6-AD9F-B160-07DA79A2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A600-C9E3-52C3-C426-0F71E87C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Protein Profiling (LDL Particle Size)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450A-E2D8-7870-644B-D9F6EE6E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b="1" dirty="0"/>
              <a:t>Header: </a:t>
            </a:r>
            <a:r>
              <a:rPr lang="en-US" dirty="0"/>
              <a:t>Beyond basic levels, the </a:t>
            </a:r>
            <a:r>
              <a:rPr lang="en-US" i="1" dirty="0"/>
              <a:t>type</a:t>
            </a:r>
            <a:r>
              <a:rPr lang="en-US" dirty="0"/>
              <a:t> of LDL particle significantly dictates cardiovascular risk.</a:t>
            </a:r>
          </a:p>
          <a:p>
            <a:pPr marL="0" indent="0">
              <a:buNone/>
            </a:pPr>
            <a:r>
              <a:rPr lang="en-IN" sz="2800" b="1" dirty="0"/>
              <a:t>Small Dense LDL (</a:t>
            </a:r>
            <a:r>
              <a:rPr lang="en-IN" sz="2800" b="1" dirty="0" err="1"/>
              <a:t>sdLDL</a:t>
            </a:r>
            <a:r>
              <a:rPr lang="en-IN" sz="2800" b="1" dirty="0"/>
              <a:t>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600" b="1" dirty="0"/>
              <a:t> Risk:</a:t>
            </a:r>
            <a:r>
              <a:rPr lang="en-IN" sz="2600" dirty="0"/>
              <a:t> High Atherogenicity.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600" b="1" dirty="0"/>
              <a:t> </a:t>
            </a:r>
            <a:r>
              <a:rPr lang="en-IN" sz="2600" b="1" dirty="0" err="1"/>
              <a:t>Behavior</a:t>
            </a:r>
            <a:r>
              <a:rPr lang="en-IN" sz="2600" b="1" dirty="0"/>
              <a:t>:</a:t>
            </a:r>
            <a:r>
              <a:rPr lang="en-IN" sz="2600" dirty="0"/>
              <a:t> Easily penetrates the vessel wall.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600" b="1" dirty="0"/>
              <a:t> Outcome:</a:t>
            </a:r>
            <a:r>
              <a:rPr lang="en-IN" sz="2600" dirty="0"/>
              <a:t> Promotes inflammation and plaque formation; high CVD risk.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65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8306-43B0-181E-65A9-74912E8E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Protein Profiling (LDL Particle Size)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41F8-F974-246B-F50D-A08F86D26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Beyond basic levels, the </a:t>
            </a:r>
            <a:r>
              <a:rPr lang="en-US" sz="2400" i="1" dirty="0"/>
              <a:t>type</a:t>
            </a:r>
            <a:r>
              <a:rPr lang="en-US" sz="2400" dirty="0"/>
              <a:t> of LDL particle significantly dictates cardiovascular risk.</a:t>
            </a:r>
          </a:p>
          <a:p>
            <a:pPr marL="0" indent="0">
              <a:buNone/>
            </a:pPr>
            <a:r>
              <a:rPr lang="en-US" sz="2400" b="1" dirty="0"/>
              <a:t>Large Buoyant LDL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Arial" panose="020B0604020202020204" pitchFamily="34" charset="0"/>
              </a:rPr>
              <a:t> Risk:</a:t>
            </a:r>
            <a:r>
              <a:rPr lang="en-US" altLang="en-US" sz="2400" dirty="0">
                <a:latin typeface="Arial" panose="020B0604020202020204" pitchFamily="34" charset="0"/>
              </a:rPr>
              <a:t> Lower heart disease risk.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Arial" panose="020B0604020202020204" pitchFamily="34" charset="0"/>
              </a:rPr>
              <a:t> Behavior:</a:t>
            </a:r>
            <a:r>
              <a:rPr lang="en-US" altLang="en-US" sz="2400" dirty="0">
                <a:latin typeface="Arial" panose="020B0604020202020204" pitchFamily="34" charset="0"/>
              </a:rPr>
              <a:t> Rich in antioxidants and less prone to oxidation.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Arial" panose="020B0604020202020204" pitchFamily="34" charset="0"/>
              </a:rPr>
              <a:t> Outcome:</a:t>
            </a:r>
            <a:r>
              <a:rPr lang="en-US" altLang="en-US" sz="2400" dirty="0">
                <a:latin typeface="Arial" panose="020B0604020202020204" pitchFamily="34" charset="0"/>
              </a:rPr>
              <a:t> Stays in circulation without easily forming plaques</a:t>
            </a: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17A19D-A506-0C3C-9408-3BF2F5028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287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164F-3082-15FF-CB61-DF6E8039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554E-D0E0-5924-E22E-4F71AE0F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Clinical Considerations &amp; Testing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A65A-8DFB-C197-1253-690E0774E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To ensure accurate results, specific clinical conditions must be met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B672D6-4A9C-1529-727D-E1FFE2080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A50EAEF-D8A1-8B0D-C2EB-C9B9272EF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972" y="3153584"/>
            <a:ext cx="10482942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Fasting Requirement: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8–12 hours of fasting is mandatory to prevent false elevation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Triglycerides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Acute Illness: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Testing should be postponed. Inflammation typically causes: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Triglycerides –Increase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Total Cholesterol- Decrease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3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4DC3-3194-A65E-97AA-50AA68F8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54AF-867D-B6B7-1866-FCEF2059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Clinical Considerations &amp; Testing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4E448-6E95-FC59-1E34-F00C134C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To ensure accurate results, specific clinical conditions must be met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87EE5C-97C6-F52C-0481-F3DB466AA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76396C-3B32-BD68-973E-294EECFA1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604" y="3203754"/>
            <a:ext cx="10668000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Post-Myocardial Infarction (MI):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Levels fluctuate for ~30 days post-MI.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Clinical Pearl:</a:t>
            </a:r>
            <a:r>
              <a:rPr lang="en-US" sz="2400" dirty="0"/>
              <a:t> Values are only considered reliable if measured within </a:t>
            </a:r>
            <a:r>
              <a:rPr lang="en-US" sz="2400" b="1" dirty="0"/>
              <a:t>24 hours</a:t>
            </a:r>
            <a:r>
              <a:rPr lang="en-US" sz="2400" dirty="0"/>
              <a:t> of the event.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052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BCD3-8430-1CAE-B261-63F45203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3CC4-EB05-FB12-ED64-9AF8C2CE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Friedewald</a:t>
            </a:r>
            <a:r>
              <a:rPr lang="en-US" dirty="0"/>
              <a:t> Equation (Exam Essential)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304A-EDCF-550A-7C5E-062A3923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57247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</a:t>
            </a:r>
            <a:r>
              <a:rPr lang="en-US" sz="2400" dirty="0"/>
              <a:t>In many labs, LDL and VLDL are calculated rather than measured directly using these formulas: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7DA275-D4B3-4899-FAAE-0EA121BFA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CDB157-A122-844C-C74D-061104FBB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3169193"/>
            <a:ext cx="9826021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Formulas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$$VLDL = \frac{Triglycerides}{5}$$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$$LDL = \text{Total Cholesterol} - \text{HDL} - \left(\frac{Triglycerides}{5}\right)$$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14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039EA-ECEA-8C5C-5369-5AE9CA30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1DD7-4433-5CEF-9BC0-E517EB1C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</a:t>
            </a:r>
            <a:r>
              <a:rPr lang="en-US" dirty="0" err="1"/>
              <a:t>Friedewald</a:t>
            </a:r>
            <a:r>
              <a:rPr lang="en-US" dirty="0"/>
              <a:t> Equation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B1028-F35A-DD26-8E8E-D536E6D1C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The calculated LDL value becomes inaccurate under the following three conditions: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F0055-4A29-A22C-BA36-423A540BB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1E61F1-285F-E10E-A7D9-A30BC2E0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913" y="3228607"/>
            <a:ext cx="100148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III Hyperlipoproteinemia: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specific genetic disorder affecting lipid metabolism.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Triglycerides: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TG levels exceed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400 mg/dL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Chylomicrons: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Presence of these large particles interferes with the ratio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63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5B87-17C6-32C0-9516-AF6FA3F8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B2BD-EDD2-4756-72E9-4B8578B3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</a:t>
            </a:r>
            <a:r>
              <a:rPr lang="en-US" dirty="0" err="1"/>
              <a:t>Friedewald</a:t>
            </a:r>
            <a:r>
              <a:rPr lang="en-US" dirty="0"/>
              <a:t> Equation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B025-9BC4-1E5D-99B2-EA27C5527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7239"/>
          </a:xfrm>
        </p:spPr>
        <p:txBody>
          <a:bodyPr>
            <a:normAutofit/>
          </a:bodyPr>
          <a:lstStyle/>
          <a:p>
            <a:r>
              <a:rPr lang="en-IN" sz="2400" b="1" dirty="0"/>
              <a:t>Header: </a:t>
            </a:r>
            <a:r>
              <a:rPr lang="en-US" sz="2400" dirty="0"/>
              <a:t>The calculated LDL value becomes inaccurate under the following three conditions: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60B2DC-B9CF-F4D3-E00F-18FE589C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9" y="4659767"/>
            <a:ext cx="119851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F10E62D-BCD9-04A9-495E-787726529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913" y="3228607"/>
            <a:ext cx="100148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III Hyperlipoproteinemia: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specific genetic disorder affecting lipid metabolism.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Triglycerides: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TG levels exceed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400 mg/dL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Chylomicrons: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Presence of these large particles interferes with the ratio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22124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</TotalTime>
  <Words>959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Gill Sans MT</vt:lpstr>
      <vt:lpstr>Google Sans</vt:lpstr>
      <vt:lpstr>Google Sans Text</vt:lpstr>
      <vt:lpstr>Wingdings</vt:lpstr>
      <vt:lpstr>Gallery</vt:lpstr>
      <vt:lpstr>Lipid Profile Screening</vt:lpstr>
      <vt:lpstr>Clinical Foundations</vt:lpstr>
      <vt:lpstr>Who Should Be Screened</vt:lpstr>
      <vt:lpstr>Frequency of Testing</vt:lpstr>
      <vt:lpstr>Major Cardiovascular Risk Factors</vt:lpstr>
      <vt:lpstr>Family History &amp; Genetics</vt:lpstr>
      <vt:lpstr>Advanced Lipid Analysis</vt:lpstr>
      <vt:lpstr>PROTEIN PROFILE </vt:lpstr>
      <vt:lpstr>Core Parameters of a Lipid Profile</vt:lpstr>
      <vt:lpstr>Core Parameters of a Lipid Profile</vt:lpstr>
      <vt:lpstr>Normal Reference Values</vt:lpstr>
      <vt:lpstr>Advanced Protein Profiling (LDL Particle Size)</vt:lpstr>
      <vt:lpstr>Advanced Protein Profiling (LDL Particle Size)</vt:lpstr>
      <vt:lpstr>Clinical Considerations &amp; Testing Protocols</vt:lpstr>
      <vt:lpstr>Clinical Considerations &amp; Testing Protocols</vt:lpstr>
      <vt:lpstr>The Friedewald Equation (Exam Essential)</vt:lpstr>
      <vt:lpstr>Limitations of the Friedewald Equation</vt:lpstr>
      <vt:lpstr>Limitations of the Friedewald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Srimathy Princy (IND)</dc:creator>
  <cp:lastModifiedBy>Panicker, Sunita (IND)</cp:lastModifiedBy>
  <cp:revision>2</cp:revision>
  <dcterms:created xsi:type="dcterms:W3CDTF">2025-11-28T13:40:03Z</dcterms:created>
  <dcterms:modified xsi:type="dcterms:W3CDTF">2026-03-09T15:13:24Z</dcterms:modified>
</cp:coreProperties>
</file>